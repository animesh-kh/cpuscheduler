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embeddedFontLst>
    <p:embeddedFont>
      <p:font typeface="Lexend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Lexen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Lexen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idx="1" type="body"/>
          </p:nvPr>
        </p:nvSpPr>
        <p:spPr>
          <a:xfrm>
            <a:off x="495300" y="1240850"/>
            <a:ext cx="11468100" cy="48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Calibri"/>
                <a:ea typeface="Calibri"/>
                <a:cs typeface="Calibri"/>
                <a:sym typeface="Calibri"/>
              </a:rPr>
              <a:t>Introduction</a:t>
            </a:r>
            <a:r>
              <a:rPr lang="en-IN"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N"/>
              <a:t>CPU scheduling is a fundamental operating system task that decides which process should be executed by the CPU at a given time.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N"/>
              <a:t>Efficient scheduling improves system performance by minimizing waiting time and maximizing CPU utilization.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N"/>
              <a:t>Reinforcement Learning can allow the scheduler to learn optimal scheduling policies based on system state and workload patterns.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Calibri"/>
                <a:ea typeface="Calibri"/>
                <a:cs typeface="Calibri"/>
                <a:sym typeface="Calibri"/>
              </a:rPr>
              <a:t>Motivation</a:t>
            </a:r>
            <a:r>
              <a:rPr lang="en-IN"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N"/>
              <a:t>Limitations of classical schedulers.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N"/>
              <a:t>Cannot adapt to dynamic workloads.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N"/>
              <a:t>Suboptimal for complex systems.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" name="Google Shape;90;p13"/>
          <p:cNvGrpSpPr/>
          <p:nvPr/>
        </p:nvGrpSpPr>
        <p:grpSpPr>
          <a:xfrm>
            <a:off x="0" y="6480699"/>
            <a:ext cx="12192000" cy="377301"/>
            <a:chOff x="0" y="6261100"/>
            <a:chExt cx="12192000" cy="596900"/>
          </a:xfrm>
        </p:grpSpPr>
        <p:sp>
          <p:nvSpPr>
            <p:cNvPr id="91" name="Google Shape;91;p13"/>
            <p:cNvSpPr txBox="1"/>
            <p:nvPr/>
          </p:nvSpPr>
          <p:spPr>
            <a:xfrm>
              <a:off x="3286125" y="6261100"/>
              <a:ext cx="3663315" cy="596900"/>
            </a:xfrm>
            <a:prstGeom prst="rect">
              <a:avLst/>
            </a:prstGeom>
            <a:solidFill>
              <a:srgbClr val="B3C6E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rPr b="1" i="0" lang="en-IN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Roll No: 23</a:t>
              </a:r>
              <a:r>
                <a:rPr b="1" lang="en-IN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01028</a:t>
              </a:r>
              <a:endParaRPr/>
            </a:p>
          </p:txBody>
        </p:sp>
        <p:sp>
          <p:nvSpPr>
            <p:cNvPr id="92" name="Google Shape;92;p13"/>
            <p:cNvSpPr txBox="1"/>
            <p:nvPr/>
          </p:nvSpPr>
          <p:spPr>
            <a:xfrm>
              <a:off x="0" y="6261100"/>
              <a:ext cx="3286125" cy="596900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rPr b="1" i="0" lang="en-IN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Name: Animesh K</a:t>
              </a:r>
              <a:r>
                <a:rPr b="1" lang="en-IN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hare </a:t>
              </a:r>
              <a:endParaRPr/>
            </a:p>
          </p:txBody>
        </p:sp>
        <p:sp>
          <p:nvSpPr>
            <p:cNvPr id="93" name="Google Shape;93;p13"/>
            <p:cNvSpPr txBox="1"/>
            <p:nvPr/>
          </p:nvSpPr>
          <p:spPr>
            <a:xfrm>
              <a:off x="6949440" y="6261100"/>
              <a:ext cx="5242560" cy="5969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rPr b="1" i="0" lang="en-IN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Supervisor: Dr.M</a:t>
              </a:r>
              <a:r>
                <a:rPr b="1" lang="en-IN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oumita Roy</a:t>
              </a:r>
              <a:endParaRPr/>
            </a:p>
          </p:txBody>
        </p:sp>
      </p:grpSp>
      <p:sp>
        <p:nvSpPr>
          <p:cNvPr id="94" name="Google Shape;94;p13"/>
          <p:cNvSpPr txBox="1"/>
          <p:nvPr/>
        </p:nvSpPr>
        <p:spPr>
          <a:xfrm>
            <a:off x="0" y="-4116"/>
            <a:ext cx="12192000" cy="1117645"/>
          </a:xfrm>
          <a:prstGeom prst="rect">
            <a:avLst/>
          </a:prstGeom>
          <a:solidFill>
            <a:srgbClr val="2E75B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>
                <a:latin typeface="Lexend"/>
                <a:ea typeface="Lexend"/>
                <a:cs typeface="Lexend"/>
                <a:sym typeface="Lexend"/>
              </a:rPr>
              <a:t>Reinforcement Learning Based CPU Scheduling for Operating Sys</a:t>
            </a:r>
            <a:r>
              <a:rPr lang="en-IN" sz="2700">
                <a:latin typeface="Lexend"/>
                <a:ea typeface="Lexend"/>
                <a:cs typeface="Lexend"/>
                <a:sym typeface="Lexend"/>
              </a:rPr>
              <a:t>tems</a:t>
            </a:r>
            <a:endParaRPr sz="2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A blue and white logo&#10;&#10;AI-generated content may be incorrect." id="95" name="Google Shape;95;p13"/>
          <p:cNvPicPr preferRelativeResize="0"/>
          <p:nvPr/>
        </p:nvPicPr>
        <p:blipFill rotWithShape="1">
          <a:blip r:embed="rId3">
            <a:alphaModFix/>
          </a:blip>
          <a:srcRect b="0" l="30458" r="30286" t="0"/>
          <a:stretch/>
        </p:blipFill>
        <p:spPr>
          <a:xfrm>
            <a:off x="11064145" y="-8877"/>
            <a:ext cx="1127848" cy="1128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14"/>
          <p:cNvGrpSpPr/>
          <p:nvPr/>
        </p:nvGrpSpPr>
        <p:grpSpPr>
          <a:xfrm>
            <a:off x="0" y="-8877"/>
            <a:ext cx="12192000" cy="1128532"/>
            <a:chOff x="0" y="1"/>
            <a:chExt cx="12192000" cy="1128532"/>
          </a:xfrm>
        </p:grpSpPr>
        <p:sp>
          <p:nvSpPr>
            <p:cNvPr id="102" name="Google Shape;102;p14"/>
            <p:cNvSpPr txBox="1"/>
            <p:nvPr/>
          </p:nvSpPr>
          <p:spPr>
            <a:xfrm>
              <a:off x="0" y="4762"/>
              <a:ext cx="12192000" cy="1117645"/>
            </a:xfrm>
            <a:prstGeom prst="rect">
              <a:avLst/>
            </a:prstGeom>
            <a:solidFill>
              <a:srgbClr val="9C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rmAutofit fontScale="97500"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Calibri"/>
                <a:buNone/>
              </a:pPr>
              <a:r>
                <a:rPr b="0" i="0" lang="en-IN" sz="4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Existing work / Literature review:</a:t>
              </a:r>
              <a:endParaRPr/>
            </a:p>
          </p:txBody>
        </p:sp>
        <p:pic>
          <p:nvPicPr>
            <p:cNvPr descr="A blue and white logo&#10;&#10;AI-generated content may be incorrect." id="103" name="Google Shape;103;p14"/>
            <p:cNvPicPr preferRelativeResize="0"/>
            <p:nvPr/>
          </p:nvPicPr>
          <p:blipFill rotWithShape="1">
            <a:blip r:embed="rId3">
              <a:alphaModFix/>
            </a:blip>
            <a:srcRect b="0" l="30458" r="30286" t="0"/>
            <a:stretch/>
          </p:blipFill>
          <p:spPr>
            <a:xfrm>
              <a:off x="11064145" y="1"/>
              <a:ext cx="1127848" cy="11285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4" name="Google Shape;104;p14"/>
          <p:cNvSpPr txBox="1"/>
          <p:nvPr>
            <p:ph idx="1" type="body"/>
          </p:nvPr>
        </p:nvSpPr>
        <p:spPr>
          <a:xfrm>
            <a:off x="495300" y="1262107"/>
            <a:ext cx="11468100" cy="4859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IN"/>
              <a:t>Classical Scheduling. FCFS, Round Robin, Priority Scheduling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IN"/>
              <a:t>Machine Learning techniques have been explored for predicting job runtimes and optimizing scheduling policies in modern systems.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IN"/>
              <a:t>Recent research explores reinforcement learning agents that learn scheduling policies based on system state. Eg Q-learning, Policy Gradient methods.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/>
              <a:t>Gaps in the existing solutions/work</a:t>
            </a:r>
            <a:r>
              <a:rPr lang="en-IN"/>
              <a:t>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N"/>
              <a:t>Most classical schedulers rely on fixed heuristics.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N"/>
              <a:t>Machine learning approaches require large datasets and complex modeling.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5" name="Google Shape;105;p14"/>
          <p:cNvGrpSpPr/>
          <p:nvPr/>
        </p:nvGrpSpPr>
        <p:grpSpPr>
          <a:xfrm>
            <a:off x="1" y="6480694"/>
            <a:ext cx="12191999" cy="377300"/>
            <a:chOff x="1" y="6261100"/>
            <a:chExt cx="12191999" cy="596900"/>
          </a:xfrm>
        </p:grpSpPr>
        <p:sp>
          <p:nvSpPr>
            <p:cNvPr id="106" name="Google Shape;106;p14"/>
            <p:cNvSpPr txBox="1"/>
            <p:nvPr/>
          </p:nvSpPr>
          <p:spPr>
            <a:xfrm>
              <a:off x="2212849" y="6261100"/>
              <a:ext cx="4736591" cy="596900"/>
            </a:xfrm>
            <a:prstGeom prst="rect">
              <a:avLst/>
            </a:prstGeom>
            <a:solidFill>
              <a:srgbClr val="B3C6E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rPr b="1" i="0" lang="en-IN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Roll No: 2301028</a:t>
              </a:r>
              <a:endParaRPr/>
            </a:p>
          </p:txBody>
        </p:sp>
        <p:sp>
          <p:nvSpPr>
            <p:cNvPr id="107" name="Google Shape;107;p14"/>
            <p:cNvSpPr txBox="1"/>
            <p:nvPr/>
          </p:nvSpPr>
          <p:spPr>
            <a:xfrm>
              <a:off x="1" y="6261100"/>
              <a:ext cx="2212848" cy="596900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rPr b="1" i="0" lang="en-IN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Name: A</a:t>
              </a:r>
              <a:r>
                <a:rPr b="1" lang="en-IN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nimesh Khare </a:t>
              </a:r>
              <a:endParaRPr/>
            </a:p>
          </p:txBody>
        </p:sp>
        <p:sp>
          <p:nvSpPr>
            <p:cNvPr id="108" name="Google Shape;108;p14"/>
            <p:cNvSpPr txBox="1"/>
            <p:nvPr/>
          </p:nvSpPr>
          <p:spPr>
            <a:xfrm>
              <a:off x="4864608" y="6261100"/>
              <a:ext cx="7327392" cy="5969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rmAutofit fontScale="85000"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Calibri"/>
                <a:buNone/>
              </a:pPr>
              <a:r>
                <a:rPr b="1" i="0" lang="en-IN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Project Title:</a:t>
              </a:r>
              <a:r>
                <a:rPr lang="en-IN" sz="1726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Reinforcement Learning Based CPU Scheduling for Operating Sys</a:t>
              </a:r>
              <a:r>
                <a:rPr lang="en-IN" sz="1926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tems</a:t>
              </a:r>
              <a:r>
                <a:rPr b="1" i="0" lang="en-IN" sz="426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626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5"/>
          <p:cNvGrpSpPr/>
          <p:nvPr/>
        </p:nvGrpSpPr>
        <p:grpSpPr>
          <a:xfrm>
            <a:off x="0" y="-8877"/>
            <a:ext cx="12192000" cy="1128532"/>
            <a:chOff x="0" y="1"/>
            <a:chExt cx="12192000" cy="1128532"/>
          </a:xfrm>
        </p:grpSpPr>
        <p:sp>
          <p:nvSpPr>
            <p:cNvPr id="115" name="Google Shape;115;p15"/>
            <p:cNvSpPr txBox="1"/>
            <p:nvPr/>
          </p:nvSpPr>
          <p:spPr>
            <a:xfrm>
              <a:off x="0" y="4762"/>
              <a:ext cx="12192000" cy="1117645"/>
            </a:xfrm>
            <a:prstGeom prst="rect">
              <a:avLst/>
            </a:prstGeom>
            <a:solidFill>
              <a:srgbClr val="9C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rmAutofit fontScale="97500"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Calibri"/>
                <a:buNone/>
              </a:pPr>
              <a:r>
                <a:rPr b="0" i="0" lang="en-IN" sz="4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Work Done till date:</a:t>
              </a:r>
              <a:endParaRPr/>
            </a:p>
          </p:txBody>
        </p:sp>
        <p:pic>
          <p:nvPicPr>
            <p:cNvPr descr="A blue and white logo&#10;&#10;AI-generated content may be incorrect." id="116" name="Google Shape;116;p15"/>
            <p:cNvPicPr preferRelativeResize="0"/>
            <p:nvPr/>
          </p:nvPicPr>
          <p:blipFill rotWithShape="1">
            <a:blip r:embed="rId3">
              <a:alphaModFix/>
            </a:blip>
            <a:srcRect b="0" l="30458" r="30286" t="0"/>
            <a:stretch/>
          </p:blipFill>
          <p:spPr>
            <a:xfrm>
              <a:off x="11064145" y="1"/>
              <a:ext cx="1127848" cy="11285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135050" y="1302132"/>
            <a:ext cx="11468100" cy="48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196596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 sz="3280">
                <a:latin typeface="Calibri"/>
                <a:ea typeface="Calibri"/>
                <a:cs typeface="Calibri"/>
                <a:sym typeface="Calibri"/>
              </a:rPr>
              <a:t>Details of proposed work/solutions:</a:t>
            </a:r>
            <a:endParaRPr b="1" sz="3280"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440"/>
              <a:t>State</a:t>
            </a:r>
            <a:r>
              <a:rPr lang="en-IN" sz="3440"/>
              <a:t>: System parameters  (priority, waiting time, burst statistics)</a:t>
            </a:r>
            <a:endParaRPr sz="34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    </a:t>
            </a:r>
            <a:r>
              <a:rPr b="1" lang="en-IN" sz="3440"/>
              <a:t>Action</a:t>
            </a:r>
            <a:r>
              <a:rPr lang="en-IN" sz="3440"/>
              <a:t>: Select process to schedule</a:t>
            </a:r>
            <a:endParaRPr sz="3440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9743"/>
              <a:buFont typeface="Noto Sans Symbols"/>
              <a:buNone/>
            </a:pPr>
            <a:r>
              <a:rPr lang="en-IN" sz="3120"/>
              <a:t> </a:t>
            </a:r>
            <a:r>
              <a:rPr b="1" lang="en-IN" sz="3440"/>
              <a:t>Reward:</a:t>
            </a:r>
            <a:r>
              <a:rPr lang="en-IN" sz="3440"/>
              <a:t> Minimize waiting time , Minimize turnaround time , Maximize CPU utilization</a:t>
            </a:r>
            <a:r>
              <a:rPr lang="en-IN" sz="3120"/>
              <a:t> </a:t>
            </a:r>
            <a:r>
              <a:rPr lang="en-IN"/>
              <a:t>  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IN"/>
              <a:t>-</a:t>
            </a:r>
            <a:r>
              <a:rPr lang="en-IN" sz="3120"/>
              <a:t>&gt;</a:t>
            </a:r>
            <a:r>
              <a:rPr lang="en-IN" sz="3440"/>
              <a:t>Train a policy network using reinforcement learning to learn optimal scheduling           decisions</a:t>
            </a:r>
            <a:r>
              <a:rPr lang="en-IN" sz="3120"/>
              <a:t>.</a:t>
            </a:r>
            <a:endParaRPr b="1"/>
          </a:p>
          <a:p>
            <a:pPr indent="-205647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 sz="3483"/>
              <a:t>Result achieved (if any):</a:t>
            </a:r>
            <a:endParaRPr sz="3483"/>
          </a:p>
          <a:p>
            <a:pPr indent="-251367" lvl="1" marL="685800" rtl="0" algn="l">
              <a:spcBef>
                <a:spcPts val="1000"/>
              </a:spcBef>
              <a:spcAft>
                <a:spcPts val="0"/>
              </a:spcAft>
              <a:buSzPct val="88517"/>
              <a:buFont typeface="Noto Sans Symbols"/>
              <a:buChar char="▪"/>
            </a:pPr>
            <a:r>
              <a:rPr lang="en-IN" sz="3483"/>
              <a:t>Generated scheduling dataset using simulation.Dataset contains ~600,000 scheduling decisions.</a:t>
            </a:r>
            <a:endParaRPr sz="3083"/>
          </a:p>
          <a:p>
            <a:pPr indent="-262838" lvl="1" marL="685800" rtl="0" algn="l">
              <a:spcBef>
                <a:spcPts val="5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IN" sz="3341"/>
              <a:t>Preliminary data analysis performed.</a:t>
            </a:r>
            <a:endParaRPr sz="3341"/>
          </a:p>
          <a:p>
            <a:pPr indent="-224738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lang="en-IN" sz="3341"/>
              <a:t>Baseline model trained for scheduling prediction.</a:t>
            </a:r>
            <a:endParaRPr sz="3341"/>
          </a:p>
          <a:p>
            <a:pPr indent="0" lvl="0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" name="Google Shape;118;p15"/>
          <p:cNvGrpSpPr/>
          <p:nvPr/>
        </p:nvGrpSpPr>
        <p:grpSpPr>
          <a:xfrm>
            <a:off x="0" y="6480699"/>
            <a:ext cx="12192000" cy="377301"/>
            <a:chOff x="0" y="6261100"/>
            <a:chExt cx="12192000" cy="596900"/>
          </a:xfrm>
        </p:grpSpPr>
        <p:sp>
          <p:nvSpPr>
            <p:cNvPr id="119" name="Google Shape;119;p15"/>
            <p:cNvSpPr txBox="1"/>
            <p:nvPr/>
          </p:nvSpPr>
          <p:spPr>
            <a:xfrm>
              <a:off x="3200399" y="6261100"/>
              <a:ext cx="3084959" cy="596900"/>
            </a:xfrm>
            <a:prstGeom prst="rect">
              <a:avLst/>
            </a:prstGeom>
            <a:solidFill>
              <a:srgbClr val="B3C6E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rmAutofit fontScale="97500"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Calibri"/>
                <a:buNone/>
              </a:pPr>
              <a:r>
                <a:rPr b="1" i="0" lang="en-IN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Roll No: 2301028</a:t>
              </a:r>
              <a:endParaRPr/>
            </a:p>
          </p:txBody>
        </p:sp>
        <p:sp>
          <p:nvSpPr>
            <p:cNvPr id="120" name="Google Shape;120;p15"/>
            <p:cNvSpPr txBox="1"/>
            <p:nvPr/>
          </p:nvSpPr>
          <p:spPr>
            <a:xfrm>
              <a:off x="0" y="6261100"/>
              <a:ext cx="3200399" cy="596900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rmAutofit fontScale="97500"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Calibri"/>
                <a:buNone/>
              </a:pPr>
              <a:r>
                <a:rPr b="1" i="0" lang="en-IN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Name: Animesh Khare</a:t>
              </a:r>
              <a:endParaRPr/>
            </a:p>
          </p:txBody>
        </p:sp>
        <p:sp>
          <p:nvSpPr>
            <p:cNvPr id="121" name="Google Shape;121;p15"/>
            <p:cNvSpPr txBox="1"/>
            <p:nvPr/>
          </p:nvSpPr>
          <p:spPr>
            <a:xfrm>
              <a:off x="6285358" y="6261100"/>
              <a:ext cx="5906642" cy="596900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rmAutofit fontScale="62500"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Calibri"/>
                <a:buNone/>
              </a:pPr>
              <a:r>
                <a:rPr b="1" i="0" lang="en-IN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Project Title: </a:t>
              </a:r>
              <a:r>
                <a:rPr lang="en-IN" sz="1894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Reinforcement Learning Based CPU Scheduling for Operating Sys</a:t>
              </a:r>
              <a:r>
                <a:rPr lang="en-IN" sz="2094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tems</a:t>
              </a:r>
              <a:endParaRPr sz="794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